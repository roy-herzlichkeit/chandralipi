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26166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Multi-modal, Sun angle and scale invariant image correspondence using Chandrayaan-2 optical images (OHRC, TMC and IIRS)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Theme- Space Technology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Team ID- &lt;fill in&gt;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&lt;fill in&gt;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ILLUMINATION-ROBUST MULTI-SENSOR LUNAR IMAGE REGISTRATION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None/>
            </a:pPr>
            <a:r>
              <a:rPr lang="en-US" sz="2800" b="1" u="sng" dirty="0">
                <a:latin typeface="Arial" pitchFamily="34" charset="0"/>
                <a:cs typeface="Arial" pitchFamily="34" charset="0"/>
              </a:rPr>
              <a:t>Proposed Solution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900" dirty="0">
                <a:latin typeface="Arial" pitchFamily="34" charset="0"/>
                <a:cs typeface="Arial" pitchFamily="34" charset="0"/>
              </a:rPr>
              <a:t>Problem: sun-angle, viewpoint &amp; scale differences break matching between Chandrayaan-2 and reference lunar imagery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900" dirty="0">
                <a:latin typeface="Arial" pitchFamily="34" charset="0"/>
                <a:cs typeface="Arial" pitchFamily="34" charset="0"/>
              </a:rPr>
              <a:t>Solution: automated pipeline delivering sub-pixel, uniformly-distributed correspondence, robust to all three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900" dirty="0">
                <a:latin typeface="Arial" pitchFamily="34" charset="0"/>
                <a:cs typeface="Arial" pitchFamily="34" charset="0"/>
              </a:rPr>
              <a:t>Novelty: validated against the latest published Chandrayaan-2 benchmark; reports its own spatial-uniformity metric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300000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1700" dirty="0">
                <a:latin typeface="Arial" pitchFamily="34" charset="0"/>
                <a:cs typeface="Arial" pitchFamily="34" charset="0"/>
              </a:rPr>
              <a:t>Stack: Python, OpenCV, PyTorch, pretrained LoFTR/SuperGlue, GPU RTX 4060/3060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700" dirty="0">
                <a:latin typeface="Arial" pitchFamily="34" charset="0"/>
                <a:cs typeface="Arial" pitchFamily="34" charset="0"/>
              </a:rPr>
              <a:t>Pipeline: Preprocess → Dual-track matching → RANSAC → Uniform coverage → Sub-pixel refine → Output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700" dirty="0">
                <a:latin typeface="Arial" pitchFamily="34" charset="0"/>
                <a:cs typeface="Arial" pitchFamily="34" charset="0"/>
              </a:rPr>
              <a:t>Handles illumination, viewpoint &amp; scale (0.25 m–80 m/px) via structure descriptors + GSD-aware resampling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2506980" y="4480000"/>
            <a:ext cx="717804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06060"/>
                </a:solidFill>
              </a:defRPr>
            </a:pPr>
            <a:r>
              <a:t>Tech stack logos (placeholders — add images here):</a:t>
            </a:r>
          </a:p>
        </p:txBody>
      </p:sp>
      <p:sp>
        <p:nvSpPr>
          <p:cNvPr id="17412" name="Logo Placeholder - Python"/>
          <p:cNvSpPr/>
          <p:nvPr/>
        </p:nvSpPr>
        <p:spPr>
          <a:xfrm>
            <a:off x="2506980" y="4750000"/>
            <a:ext cx="1005840" cy="1005840"/>
          </a:xfrm>
          <a:prstGeom prst="roundRect">
            <a:avLst/>
          </a:prstGeom>
          <a:noFill/>
          <a:ln w="127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808080"/>
                </a:solidFill>
              </a:defRPr>
            </a:pPr>
            <a:r>
              <a:t>Python</a:t>
            </a:r>
          </a:p>
        </p:txBody>
      </p:sp>
      <p:sp>
        <p:nvSpPr>
          <p:cNvPr id="17413" name="Logo Placeholder - OpenCV"/>
          <p:cNvSpPr/>
          <p:nvPr/>
        </p:nvSpPr>
        <p:spPr>
          <a:xfrm>
            <a:off x="3741420" y="4750000"/>
            <a:ext cx="1005840" cy="1005840"/>
          </a:xfrm>
          <a:prstGeom prst="roundRect">
            <a:avLst/>
          </a:prstGeom>
          <a:noFill/>
          <a:ln w="127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808080"/>
                </a:solidFill>
              </a:defRPr>
            </a:pPr>
            <a:r>
              <a:t>OpenCV</a:t>
            </a:r>
          </a:p>
        </p:txBody>
      </p:sp>
      <p:sp>
        <p:nvSpPr>
          <p:cNvPr id="17414" name="Logo Placeholder - PyTorch"/>
          <p:cNvSpPr/>
          <p:nvPr/>
        </p:nvSpPr>
        <p:spPr>
          <a:xfrm>
            <a:off x="4975860" y="4750000"/>
            <a:ext cx="1005840" cy="1005840"/>
          </a:xfrm>
          <a:prstGeom prst="roundRect">
            <a:avLst/>
          </a:prstGeom>
          <a:noFill/>
          <a:ln w="127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808080"/>
                </a:solidFill>
              </a:defRPr>
            </a:pPr>
            <a:r>
              <a:t>PyTorch</a:t>
            </a:r>
          </a:p>
        </p:txBody>
      </p:sp>
      <p:sp>
        <p:nvSpPr>
          <p:cNvPr id="17415" name="Logo Placeholder - LoFTR"/>
          <p:cNvSpPr/>
          <p:nvPr/>
        </p:nvSpPr>
        <p:spPr>
          <a:xfrm>
            <a:off x="6210300" y="4750000"/>
            <a:ext cx="1005840" cy="1005840"/>
          </a:xfrm>
          <a:prstGeom prst="roundRect">
            <a:avLst/>
          </a:prstGeom>
          <a:noFill/>
          <a:ln w="127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808080"/>
                </a:solidFill>
              </a:defRPr>
            </a:pPr>
            <a:r>
              <a:t>LoFTR</a:t>
            </a:r>
          </a:p>
        </p:txBody>
      </p:sp>
      <p:sp>
        <p:nvSpPr>
          <p:cNvPr id="17416" name="Logo Placeholder - SuperGlue"/>
          <p:cNvSpPr/>
          <p:nvPr/>
        </p:nvSpPr>
        <p:spPr>
          <a:xfrm>
            <a:off x="7444740" y="4750000"/>
            <a:ext cx="1005840" cy="1005840"/>
          </a:xfrm>
          <a:prstGeom prst="roundRect">
            <a:avLst/>
          </a:prstGeom>
          <a:noFill/>
          <a:ln w="127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808080"/>
                </a:solidFill>
              </a:defRPr>
            </a:pPr>
            <a:r>
              <a:t>SuperGlue</a:t>
            </a:r>
          </a:p>
        </p:txBody>
      </p:sp>
      <p:sp>
        <p:nvSpPr>
          <p:cNvPr id="17417" name="Logo Placeholder - GDAL / Rasterio"/>
          <p:cNvSpPr/>
          <p:nvPr/>
        </p:nvSpPr>
        <p:spPr>
          <a:xfrm>
            <a:off x="8679180" y="4750000"/>
            <a:ext cx="1005840" cy="1005840"/>
          </a:xfrm>
          <a:prstGeom prst="roundRect">
            <a:avLst/>
          </a:prstGeom>
          <a:noFill/>
          <a:ln w="127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808080"/>
                </a:solidFill>
              </a:defRPr>
            </a:pPr>
            <a:r>
              <a:t>GDAL /</a:t>
            </a:r>
            <a:br/>
            <a:r>
              <a:t>Rasterio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1900" dirty="0">
                <a:latin typeface="Arial" pitchFamily="34" charset="0"/>
                <a:cs typeface="Arial" pitchFamily="34" charset="0"/>
              </a:rPr>
              <a:t>Feasible zero-shot — no training needed; POC realistic within days on RTX 4060/3060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900" dirty="0">
                <a:latin typeface="Arial" pitchFamily="34" charset="0"/>
                <a:cs typeface="Arial" pitchFamily="34" charset="0"/>
              </a:rPr>
              <a:t>Public LRO NAC data unblocks Day 1 while PRADAN access (turnaround unverified) is pending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900" dirty="0">
                <a:latin typeface="Arial" pitchFamily="34" charset="0"/>
                <a:cs typeface="Arial" pitchFamily="34" charset="0"/>
              </a:rPr>
              <a:t>Risk: OHRC's large tiles (VRAM limits); IIRS hyperspectral vs. panchromatic mismatch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900" dirty="0">
                <a:latin typeface="Arial" pitchFamily="34" charset="0"/>
                <a:cs typeface="Arial" pitchFamily="34" charset="0"/>
              </a:rPr>
              <a:t>Mitigation: tiled OHRC processing, IIRS band-select/PCA, classical track as shadow fallback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Automates manual ground-control-point tagging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Fuses Chandrayaan-2, LRO &amp; SELENE into one coordinate frame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Supports landing-site selection, DEM generation, change detection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Generalizes to Mars and other ISRO multi-sensor missions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Makharia et al., arXiv:2509.04775 (2025) — SuperGlue beats classical matchers on real Chandrayaan-2 data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Lowe, SIFT, IJCV 2004  ·  Li et al., RIFT, IEEE TIP 2020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Sarlin et al., SuperGlue, CVPR 2020  ·  Sun et al., LoFTR, CVPR 2021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Zitová &amp; Flusser, Image Registration Methods: A Survey, 2003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Data: pradan.issdc.gov.in/ch2  ·  pds.lroc.im-ldi.com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